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Images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</c:v>
                </c:pt>
                <c:pt idx="1">
                  <c:v>493</c:v>
                </c:pt>
                <c:pt idx="2">
                  <c:v>204</c:v>
                </c:pt>
                <c:pt idx="3">
                  <c:v>61</c:v>
                </c:pt>
                <c:pt idx="4">
                  <c:v>198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Custom CNN</c:v>
                  </c:pt>
                  <c:pt idx="1">
                    <c:v>VGG-16</c:v>
                  </c:pt>
                  <c:pt idx="2">
                    <c:v>ResNet-50</c:v>
                  </c:pt>
                  <c:pt idx="3">
                    <c:v>DenseNet121</c:v>
                  </c:pt>
                  <c:pt idx="4">
                    <c:v>EfficientNet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0.5241</c:v>
                </c:pt>
                <c:pt idx="1">
                  <c:v>0.6248</c:v>
                </c:pt>
                <c:pt idx="2">
                  <c:v>0.5908</c:v>
                </c:pt>
                <c:pt idx="3">
                  <c:v>0.6535</c:v>
                </c:pt>
                <c:pt idx="4">
                  <c:v>0.5906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45"/>
        </c:scaling>
        <c:delete val="0"/>
        <c:axPos val="b"/>
        <c:majorGridlines>
          <c:spPr>
            <a:ln w="508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0.604</c:v>
                </c:pt>
                <c:pt idx="2">
                  <c:v>0</c:v>
                </c:pt>
                <c:pt idx="3">
                  <c:v>0</c:v>
                </c:pt>
                <c:pt idx="4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VGG-16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0.41</c:v>
                </c:pt>
                <c:pt idx="1">
                  <c:v>0.602</c:v>
                </c:pt>
                <c:pt idx="2">
                  <c:v>0.24</c:v>
                </c:pt>
                <c:pt idx="3">
                  <c:v>0.053</c:v>
                </c:pt>
                <c:pt idx="4">
                  <c:v>0.246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ResNet-50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0.277</c:v>
                </c:pt>
                <c:pt idx="1">
                  <c:v>0.336</c:v>
                </c:pt>
                <c:pt idx="2">
                  <c:v>0.103</c:v>
                </c:pt>
                <c:pt idx="3">
                  <c:v>0.24</c:v>
                </c:pt>
                <c:pt idx="4">
                  <c:v>0.188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DenseNet121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0.348</c:v>
                </c:pt>
                <c:pt idx="1">
                  <c:v>0.438</c:v>
                </c:pt>
                <c:pt idx="2">
                  <c:v>0.189</c:v>
                </c:pt>
                <c:pt idx="3">
                  <c:v>0.353</c:v>
                </c:pt>
                <c:pt idx="4">
                  <c:v>0.273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EfficientNet-B0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</c:v>
                  </c:pt>
                  <c:pt idx="1">
                    <c:v>CN</c:v>
                  </c:pt>
                  <c:pt idx="2">
                    <c:v>EMCI</c:v>
                  </c:pt>
                  <c:pt idx="3">
                    <c:v>LMCI</c:v>
                  </c:pt>
                  <c:pt idx="4">
                    <c:v>MCI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0.296</c:v>
                </c:pt>
                <c:pt idx="1">
                  <c:v>0.475</c:v>
                </c:pt>
                <c:pt idx="2">
                  <c:v>0.175</c:v>
                </c:pt>
                <c:pt idx="3">
                  <c:v>0.113</c:v>
                </c:pt>
                <c:pt idx="4">
                  <c:v>0.303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0"/>
        <c:axPos val="l"/>
        <c:majorGridlines>
          <c:spPr>
            <a:ln w="508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108960"/>
            <a:ext cx="2011680" cy="201168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Five-Class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 Classification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Structural MRI: A Comparative CNN Study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 Chuku  ·  josiah1.chuku@famu.edu  ·  CAP5626 – Intro to AI  ·  FAMU  ·  Spring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15087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30552" y="3337560"/>
            <a:ext cx="15087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30552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9624" y="3337560"/>
            <a:ext cx="15087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9624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68696" y="3337560"/>
            <a:ext cx="1508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68696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87768" y="3337560"/>
            <a:ext cx="150876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87768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9456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93192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4251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EXPERIMENTAL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Split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2984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ADNI via Dr. Carlos Theran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axial MRI slices (JPEG)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11480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396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1396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1,101 images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560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images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411480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809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29809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images (85/15, seed 42)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4015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 unique — overlap = 0 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411480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221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3822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CN:LMCI = 8.1 :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— Training Set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0" y="1170432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4572000" y="3977640"/>
            <a:ext cx="429768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09160" y="40233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8.1:1 imbalance (CN vs LMCI) rules out accuracy as a primary metric.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and Macro F1 selected as evaluation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STUDY  &amp;  DATA AUGMENTATION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4-Pipeline Comparison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5029200" cy="1600200"/>
        </p:xfrm>
        <a:graphic>
          <a:graphicData uri="http://schemas.openxmlformats.org/drawingml/2006/table">
            <a:tbl>
              <a:tblPr/>
              <a:tblGrid>
                <a:gridCol w="731520"/>
                <a:gridCol w="338328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normalization · grayscale · 224px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Grayscale + normalize · 224px  ← SELECTED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(no grayscale) + normalize · 224px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Grayscale + normalize · 128px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Pipeline — Scientific Justification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325526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 —  Removes spurious RGB correlations in MRI JPEG encoding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362102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584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 —  Preserves hippocampal spatial detail for all architectures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98678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950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 —  Reduces inter-scanner noise; aligns with ImageNet prior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35254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plane  —  Best captures hippocampal atrophy — primary AD biomarker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71830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4681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replicate  —  Required for pretrained kernel compatibility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32120" y="749808"/>
            <a:ext cx="3337560" cy="4160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69280" y="822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Augmentation Techniques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6928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Random Crop (244→224)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Rotation  ±15°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0" y="20665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Horizontal Flip  p=0.5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6692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Color Jitter  b/c ±0.2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69280" y="28712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Width + Height Shift  ±5%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0" y="3273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Zoom  scale 0.9–1.1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0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Affine Shear  5°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32120" y="4133088"/>
            <a:ext cx="3337560" cy="749808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23560" y="4160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aug: F1 = 0.093   →   With aug: F1 = 0.320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+244% improvement in Macro F1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CNN ARCHITECTURES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1600200" cy="4754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498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 §3.4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3703320"/>
            <a:ext cx="1600200" cy="1207008"/>
          </a:xfrm>
          <a:prstGeom prst="rect">
            <a:avLst/>
          </a:prstGeom>
          <a:solidFill>
            <a:srgbClr val="0284C7">
              <a:alpha val="12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749040"/>
            <a:ext cx="1490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baseline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pretrained init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65960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65960" y="749808"/>
            <a:ext cx="1600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7498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39112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3911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39112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39112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119.6M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39112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P/Image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39112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39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39112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Theran Slide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03320"/>
            <a:ext cx="1600200" cy="12070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0824" y="3749040"/>
            <a:ext cx="1490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 listed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30752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0752" y="749808"/>
            <a:ext cx="16002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7498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03904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03904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03904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03904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14.97M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03904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P/Image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03904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16,033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03904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Theran Slide 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30752" y="3703320"/>
            <a:ext cx="1600200" cy="12070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3749040"/>
            <a:ext cx="1490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gradients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95544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95544" y="749808"/>
            <a:ext cx="1600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95544" y="7498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 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68696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68696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68696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68696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68696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P/Image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68696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68696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68696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Theran Slide 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95544" y="3703320"/>
            <a:ext cx="1600200" cy="120700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0408" y="3749040"/>
            <a:ext cx="1490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★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260336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260336" y="749808"/>
            <a:ext cx="1600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0336" y="7498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33488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33488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33488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33488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33488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P/Image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33488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333488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333488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Theran Slide 10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260336" y="3703320"/>
            <a:ext cx="1600200" cy="12070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0" y="3749040"/>
            <a:ext cx="1490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params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Configuration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280160"/>
                <a:gridCol w="1280160"/>
                <a:gridCol w="1371600"/>
                <a:gridCol w="1371600"/>
              </a:tblGrid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GPU — Google Colab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Overfitting Mitigation Strategies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3904488"/>
            <a:ext cx="1115568" cy="9875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0.25–0.50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517904" y="3904488"/>
            <a:ext cx="1115568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17904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17904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61488" y="3904488"/>
            <a:ext cx="1115568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61488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61488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10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05072" y="3904488"/>
            <a:ext cx="111556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05072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005072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48656" y="3904488"/>
            <a:ext cx="111556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248656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48656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1e-4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92240" y="3904488"/>
            <a:ext cx="111556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92240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92240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techs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35824" y="3904488"/>
            <a:ext cx="1115568" cy="9875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35824" y="39044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35824" y="420624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412480" y="3904488"/>
            <a:ext cx="91440" cy="0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 w_c = 1/n_c  ·  aggressive LMCI×5 weighting tested → macro F1 = 0.021 (collapsed) → sampler-only selected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Validation Gap — Overfitting Diagnosis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502920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914400"/>
                <a:gridCol w="822960"/>
                <a:gridCol w="7315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63240"/>
            <a:ext cx="502920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136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50215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128,015 params/image — memorizes training samples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2,316 params/image — optimal capacity:data ratio
</a:t>
            </a:r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WeightedSampler artifact — harder train distribution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749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Effectiveness Ranking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32120" y="1143000"/>
            <a:ext cx="6400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41848" y="11430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0" y="1143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26680" y="11430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+244% Macro F1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1682496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1682496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41848" y="16824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16824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26680" y="16824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AUC decay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32120" y="2221992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32120" y="2221992"/>
            <a:ext cx="64008" cy="4754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41848" y="2221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72200" y="2221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Complexity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26680" y="2221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&gt; VGG +0.029 AUC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532120" y="2761488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32120" y="2761488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41848" y="27614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72200" y="27614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26680" y="27614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23-epoch depth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532120" y="3300984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32120" y="3300984"/>
            <a:ext cx="6400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41848" y="330098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72200" y="3300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BN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726680" y="33009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Custom CNN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32120" y="3840480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32120" y="3840480"/>
            <a:ext cx="6400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41848" y="38404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72200" y="3840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26680" y="38404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penalization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532120" y="4379976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532120" y="4379976"/>
            <a:ext cx="6400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41848" y="43799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72200" y="43799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Sampler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726680" y="43799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LMCI recall → 0.5455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235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(TP+TN)/(TP+TN+FP+FN)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928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— not primary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9235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1280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801368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8928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reported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9235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1280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1801368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8928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reported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94576" y="9235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12801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2·(P·R)/(P+R)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94576" y="1801368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8928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+ macro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62072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62072"/>
            <a:ext cx="199339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08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64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per-class F1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7764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equal weight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2862072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42032" y="3008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42032" y="3364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Support-weighted F1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42032" y="3886200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97764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6864" y="2862072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2862072"/>
            <a:ext cx="199339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008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18304" y="3364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Pr[s(x⁺) &gt; s(x⁻)]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3886200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97764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threshold-free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03136" y="2862072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2862072"/>
            <a:ext cx="199339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94576" y="3008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94576" y="33649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area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94576" y="3886200"/>
            <a:ext cx="181051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97764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rare positives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26864"/>
            <a:ext cx="8595360" cy="365760"/>
          </a:xfrm>
          <a:prstGeom prst="rect">
            <a:avLst/>
          </a:prstGeom>
          <a:solidFill>
            <a:srgbClr val="E0F7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65429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ROC-AUC?  Zero-rule classifier (always predict CN) gets Acc=44.6% but ROC-AUC=0.500 (random) — correctly penalised.  ·  Theran Eval Metrics Lecture slide 11.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RESULTS — ALL FIVE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10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169164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1280160"/>
                <a:gridCol w="1280160"/>
                <a:gridCol w="1371600"/>
              </a:tblGrid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606040"/>
            <a:ext cx="1993392" cy="1207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26517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4930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2606040"/>
            <a:ext cx="1993392" cy="1207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50592" y="26517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50592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PR-AUC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50592" y="34930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26864" y="2606040"/>
            <a:ext cx="1993392" cy="1207008"/>
          </a:xfrm>
          <a:prstGeom prst="rect">
            <a:avLst/>
          </a:prstGeom>
          <a:solidFill>
            <a:srgbClr val="0D213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26864" y="26517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0.3201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626864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26864" y="34930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03136" y="2606040"/>
            <a:ext cx="1993392" cy="1207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03136" y="26517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803136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LMCI Recall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03136" y="34930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3913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Comparison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274320" y="4224528"/>
          <a:ext cx="4114800" cy="804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0"/>
          <p:cNvSpPr/>
          <p:nvPr/>
        </p:nvSpPr>
        <p:spPr>
          <a:xfrm>
            <a:off x="4617720" y="3913632"/>
            <a:ext cx="4251960" cy="11155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754880" y="3977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Accuracy Paradox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754880" y="429768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CNN: Acc = 0.4308  BUT  Macro F1 = 0.1307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recall = 0.954 · EMCI recall = 0.000 · LMCI recall = 0.000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conceals complete minority class failure.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ANALYSIS — DenseNet121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 — Per-Class Metrics (Test Set, n=195)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5029200" cy="210312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097280"/>
                <a:gridCol w="1097280"/>
                <a:gridCol w="640080"/>
              </a:tblGrid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337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Difficulty Hierarchy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3694176"/>
            <a:ext cx="5029200" cy="256032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3694176"/>
            <a:ext cx="6400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694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Easiest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08760" y="36941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65960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0.604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34640" y="3694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(44.8%)  ·  structurally distinct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3977640"/>
            <a:ext cx="5029200" cy="256032"/>
          </a:xfrm>
          <a:prstGeom prst="rect">
            <a:avLst/>
          </a:prstGeom>
          <a:solidFill>
            <a:srgbClr val="0284C7">
              <a:alpha val="10000"/>
            </a:srgbClr>
          </a:solidFill>
          <a:ln w="12700">
            <a:solidFill>
              <a:srgbClr val="0284C7">
                <a:alpha val="3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3977640"/>
            <a:ext cx="64008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08760" y="3977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6596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0.410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834640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atrophy  ·  high visual signal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261104"/>
            <a:ext cx="5029200" cy="256032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4261104"/>
            <a:ext cx="64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4261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508760" y="42611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65960" y="4261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0.303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83464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  ·  overlaps CN and LMCI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544568"/>
            <a:ext cx="5029200" cy="256032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4544568"/>
            <a:ext cx="6400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4544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508760" y="4544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96596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0.189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834640" y="4544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2D resolution threshold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4828032"/>
            <a:ext cx="5029200" cy="25603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4828032"/>
            <a:ext cx="640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Hardest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508760" y="4828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965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F1: 0.353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834640" y="4828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61 train images  ·  overlaps all stages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32120" y="749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All Five Architectures</a:t>
            </a:r>
            <a:endParaRPr lang="en-US" sz="13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5440680" y="1115568"/>
          <a:ext cx="3474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286000" cy="22860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CONCLUSIONS  &amp;  FUTURE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64008" cy="1444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 — Recommended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0.6535  ·  Macro F1 0.3201  ·  PR-AUC 0.4002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reuse via dense connectivity is optimal for small datasets.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validates Dr. Theran CNN lecture slide 8.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932688"/>
            <a:ext cx="425196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932688"/>
            <a:ext cx="64008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05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0952" y="100584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— Non-Negotiable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30952" y="138988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0.093 → 0.320  (+244%)  ·  Stopped ep.20 → ep.14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augmentation is the highest-ROI intervention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data is constrained to under 1,000 images.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425196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05456"/>
            <a:ext cx="64008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78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5786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Misleading Metric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62656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CNN: Acc=0.4308  but  F1=0.1307  and  AUC=0.5241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and Macro F1 correctly penalise majority-class exploitation.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evaluation is a scientific requirement.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2505456"/>
            <a:ext cx="4251960" cy="1444752"/>
          </a:xfrm>
          <a:prstGeom prst="rect">
            <a:avLst/>
          </a:prstGeom>
          <a:solidFill>
            <a:srgbClr val="0D1B2A"/>
          </a:solidFill>
          <a:ln w="12700">
            <a:solidFill>
              <a:srgbClr val="7C3AED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505456"/>
            <a:ext cx="64008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578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30952" y="25786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The Dominant Challenge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30952" y="2962656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strategies deployed — not fully eliminated in any model.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Lim et al. 2022. Root cause: data volume,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architecture choice or regularization strategy.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4C7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64008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0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Raising the Performance Ceiling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622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NIfTI MRI + skull stripping + bias-field correction  ·  Vision Transformers or 3D-CNNs for volumetric context  ·  k-fold CV for reliable metric bounds  ·  Focal Loss for hard minority examples  ·  Grad-CAM for interpretability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 Chuku  ·  josiah1.chuku@famu.edu  ·  CAP5626  ·  Florida A&amp;M University  ·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for Alzheimer's Disease Classification</dc:title>
  <dc:subject>PptxGenJS Presentation</dc:subject>
  <dc:creator>Josiah Chuku</dc:creator>
  <cp:lastModifiedBy>Josiah Chuku</cp:lastModifiedBy>
  <cp:revision>1</cp:revision>
  <dcterms:created xsi:type="dcterms:W3CDTF">2026-04-26T02:14:00Z</dcterms:created>
  <dcterms:modified xsi:type="dcterms:W3CDTF">2026-04-26T02:14:00Z</dcterms:modified>
</cp:coreProperties>
</file>